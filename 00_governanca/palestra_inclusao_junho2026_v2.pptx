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8397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A1F35"/>
          </a:solidFill>
          <a:ln w="12700">
            <a:solidFill>
              <a:srgbClr val="0A1F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931920" y="0"/>
            <a:ext cx="182880" cy="5143500"/>
          </a:xfrm>
          <a:prstGeom prst="rect">
            <a:avLst/>
          </a:prstGeom>
          <a:solidFill>
            <a:srgbClr val="0A7E6C"/>
          </a:solidFill>
          <a:ln w="12700">
            <a:solidFill>
              <a:srgbClr val="0A7E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ATLAS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SOCIAL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200" dirty="0">
                <a:solidFill>
                  <a:srgbClr val="13A88E"/>
                </a:solidFill>
              </a:rPr>
              <a:t>DE HORTOLÂNDIA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Junho ·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4805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Ailton Vendramini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DIAE · SMPUGE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80560" y="6400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72.424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480560" y="14173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A88E"/>
                </a:solidFill>
              </a:rPr>
              <a:t>pessoas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3A88E"/>
                </a:solidFill>
              </a:rPr>
              <a:t>cadastradas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20574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141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480560" y="28346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A88E"/>
                </a:solidFill>
              </a:rPr>
              <a:t>loteamentos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3A88E"/>
                </a:solidFill>
              </a:rPr>
              <a:t>mapeados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34747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10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480560" y="42519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A88E"/>
                </a:solidFill>
              </a:rPr>
              <a:t>indicadores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3A88E"/>
                </a:solidFill>
              </a:rPr>
              <a:t>calculados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D2137"/>
                </a:solidFill>
              </a:rPr>
              <a:t>Em três meses, saímos de uma base bruta para um sistema analítico.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</a:rPr>
              <a:t>O que foi entregue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4206240" cy="1005840"/>
          </a:xfrm>
          <a:prstGeom prst="rect">
            <a:avLst/>
          </a:prstGeom>
          <a:solidFill>
            <a:srgbClr val="DCFCE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9776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Base CadÚnico estruturada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72.424 pessoas · 30.362 famílias · dez/2025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4206240" cy="1005840"/>
          </a:xfrm>
          <a:prstGeom prst="rect">
            <a:avLst/>
          </a:prstGeom>
          <a:solidFill>
            <a:srgbClr val="DCFCE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41248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83480" y="13258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10 indicadores IVS-H calculados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RT, CH e IU — auditáveis e reproduzíveis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404872"/>
            <a:ext cx="4206240" cy="1005840"/>
          </a:xfrm>
          <a:prstGeom prst="rect">
            <a:avLst/>
          </a:prstGeom>
          <a:solidFill>
            <a:srgbClr val="DCFCE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11480" y="2404872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97764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2496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141 loteamentos mapeados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8620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6 Regiões de Planejamento · distribuição territorial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404872"/>
            <a:ext cx="4206240" cy="1005840"/>
          </a:xfrm>
          <a:prstGeom prst="rect">
            <a:avLst/>
          </a:prstGeom>
          <a:solidFill>
            <a:srgbClr val="DCFCE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846320" y="2404872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41248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</a:rPr>
              <a:t>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83480" y="2496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5 perfis de vulnerabilidade severa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28620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PVSE-01 a PVSE-04 + PcD crítica identificada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575304"/>
            <a:ext cx="4206240" cy="1005840"/>
          </a:xfrm>
          <a:prstGeom prst="rect">
            <a:avLst/>
          </a:prstGeom>
          <a:solidFill>
            <a:srgbClr val="DCFCE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11480" y="3575304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977640" y="3666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</a:rPr>
              <a:t>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8640" y="36667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Corpus jornalístico ativo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03250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456+ eventos classificados · Tribuna Liberal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575304"/>
            <a:ext cx="4206240" cy="1005840"/>
          </a:xfrm>
          <a:prstGeom prst="rect">
            <a:avLst/>
          </a:prstGeom>
          <a:solidFill>
            <a:srgbClr val="DCFCE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846320" y="3575304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412480" y="3666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</a:rPr>
              <a:t>✓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983480" y="36667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Repositório GitHub documentado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83480" y="403250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Metodologia versionada · transparência total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Em março, vocês nos fizeram perguntas.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3A88E"/>
                </a:solidFill>
              </a:rPr>
              <a:t>Viemos mostrar o que já conseguimos responder — e o que ainda está bloqueado, e por quê.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371600"/>
          </a:xfrm>
          <a:prstGeom prst="rect">
            <a:avLst/>
          </a:prstGeom>
          <a:solidFill>
            <a:srgbClr val="0A7E6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4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já respondidas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com CadÚnico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13716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383280" y="16916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D2137"/>
                </a:solidFill>
              </a:rPr>
              <a:t>8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383280" y="24871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</a:rPr>
              <a:t>aguardam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</a:rPr>
              <a:t>o SIGAS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3716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217920" y="16916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217920" y="24871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dependem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convênio futuro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 arquitetura já está pronta para responder 12 das 15 perguntas.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8321040" cy="1188720"/>
          </a:xfrm>
          <a:prstGeom prst="rect">
            <a:avLst/>
          </a:prstGeom>
          <a:solidFill>
            <a:srgbClr val="0A4A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3A88E"/>
                </a:solidFill>
              </a:rPr>
              <a:t>Hoje o principal gargalo do Atlas não é tecnologia,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13A88E"/>
                </a:solidFill>
              </a:rPr>
              <a:t>não é metodologia e não é capacidade analítica.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13A88E"/>
                </a:solidFill>
              </a:rPr>
              <a:t>É acesso a dados.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</a:rPr>
              <a:t>As perguntas que vocês fizeram — e as respostas que já temos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4 perguntas respondidas com CadÚnico dez/2025, sem depender de nenhuma integração externa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458200" cy="896112"/>
          </a:xfrm>
          <a:prstGeom prst="rect">
            <a:avLst/>
          </a:prstGeom>
          <a:solidFill>
            <a:srgbClr val="DCFCE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64008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0332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0149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Quais famílias acumulam múltiplos fatores de vulnerabilidade?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83480" y="1014984"/>
            <a:ext cx="946404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983480" y="1014984"/>
            <a:ext cx="9464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PVSE-01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4356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E6C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4173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327 idosos com baixa renda + analfabetismo + sem proteção social identificados. Jardim Amanda concentra o maior número.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965960"/>
            <a:ext cx="8458200" cy="896112"/>
          </a:xfrm>
          <a:prstGeom prst="rect">
            <a:avLst/>
          </a:prstGeom>
          <a:solidFill>
            <a:srgbClr val="DCFCE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11480" y="1965960"/>
            <a:ext cx="64008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48640" y="2039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0208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Qual o perfil predominante das famílias em maior risco?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2020824"/>
            <a:ext cx="1522476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983480" y="2020824"/>
            <a:ext cx="1522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RT_05 + RT_04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441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E6C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24231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Família chefiada por mulher, renda per capita R$173, com crianças e idoso dependente — sem vínculo com CRAS ou CREAS.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971800"/>
            <a:ext cx="8458200" cy="896112"/>
          </a:xfrm>
          <a:prstGeom prst="rect">
            <a:avLst/>
          </a:prstGeom>
          <a:solidFill>
            <a:srgbClr val="DCFCE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11480" y="2971800"/>
            <a:ext cx="64008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48640" y="3044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0266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Há sobreposição entre vulnerabilidade e infraestrutura precária?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83480" y="3026664"/>
            <a:ext cx="2098548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983480" y="3026664"/>
            <a:ext cx="2098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IU_01 + CH_06 + PcD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447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E6C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4290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Sim. Jardim Amanda acumula: 1.045 analfabetos, 39 domicílios sem água/esgoto adequado, 168 PcD em vulnerabilidade crítica.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977640"/>
            <a:ext cx="8458200" cy="896112"/>
          </a:xfrm>
          <a:prstGeom prst="rect">
            <a:avLst/>
          </a:prstGeom>
          <a:solidFill>
            <a:srgbClr val="DCFCE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11480" y="3977640"/>
            <a:ext cx="64008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48640" y="4050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40325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Quais loteamentos têm maior concentração de vulnerabilidade?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4032504"/>
            <a:ext cx="1906524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983480" y="4032504"/>
            <a:ext cx="19065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IVS-H territorial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4453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E6C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4400" y="44348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Jardim Amanda lidera em 5 dos 10 indicadores calculados. Jardim Adelaide lidera em infraestrutura (93 domicílios com água/esgoto inadequado).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" y="48646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As 8 perguntas restantes aguardam integração com SIGAS — solicitação formal já enviada.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3A88E"/>
                </a:solidFill>
              </a:rPr>
              <a:t>Nível 1 — Alto impacto político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Pessoas com deficiência sem nenhuma rede de apoio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06040" cy="1234440"/>
          </a:xfrm>
          <a:prstGeom prst="rect">
            <a:avLst/>
          </a:prstGeom>
          <a:solidFill>
            <a:srgbClr val="0A7E6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6.416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pessoas com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deficiência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606040" cy="12344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383280" y="126187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3.198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0" y="1920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sem NENHUMA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rede de apoio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2606040" cy="12344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217920" y="126187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49,84%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17920" y="1920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do total PcD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em isolamento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A88E"/>
                </a:solidFill>
              </a:rPr>
              <a:t>Onde estão — Top 5 loteamentos (PcD + sem apoio + baixa renda):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5943600" cy="27432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48640" y="2999232"/>
            <a:ext cx="594360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629400" y="2999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Jardim Amanda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017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168 pessoas · 164 famílias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5943600" cy="27432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3820886" cy="274320"/>
          </a:xfrm>
          <a:prstGeom prst="rect">
            <a:avLst/>
          </a:prstGeom>
          <a:solidFill>
            <a:srgbClr val="0A7E6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629400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Jardim Nova Europa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34015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108 pessoas · 97 famílias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767328"/>
            <a:ext cx="5943600" cy="27432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548640" y="3767328"/>
            <a:ext cx="1875064" cy="274320"/>
          </a:xfrm>
          <a:prstGeom prst="rect">
            <a:avLst/>
          </a:prstGeom>
          <a:solidFill>
            <a:srgbClr val="0A7E6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629400" y="3767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Jardim Novo Ângulo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37856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53 pessoas · 50 famílias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151376"/>
            <a:ext cx="5943600" cy="27432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548640" y="4151376"/>
            <a:ext cx="1556657" cy="274320"/>
          </a:xfrm>
          <a:prstGeom prst="rect">
            <a:avLst/>
          </a:prstGeom>
          <a:solidFill>
            <a:srgbClr val="0A7E6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629400" y="41513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Jardim Nova América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4360" y="41696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44 pessoas · 43 famílias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535424"/>
            <a:ext cx="5943600" cy="27432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548640" y="4535424"/>
            <a:ext cx="1450521" cy="274320"/>
          </a:xfrm>
          <a:prstGeom prst="rect">
            <a:avLst/>
          </a:prstGeom>
          <a:solidFill>
            <a:srgbClr val="0A7E6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629400" y="4535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Jardim Nova Hortolândia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4360" y="45537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41 pessoas · 38 famílias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Fonte: RTB_019 · CadÚnico dez/2025 · Indicador composto: deficiência + sem apoio + renda ≤ ½ SM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A7E6C"/>
                </a:solidFill>
              </a:rPr>
              <a:t>Nível 2 — Alto impacto operacional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</a:rPr>
              <a:t>Onde a busca ativa deveria começar amanhã?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Famílias com desatualização cadastral crítica: ≥2 anos sem atualização + idoso + baixa renda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412480" cy="1005840"/>
          </a:xfrm>
          <a:prstGeom prst="rect">
            <a:avLst/>
          </a:prstGeom>
          <a:solidFill>
            <a:srgbClr val="FEF3C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4008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D97706"/>
                </a:solidFill>
              </a:rPr>
              <a:t>315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468880" y="150876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2137"/>
                </a:solidFill>
              </a:rPr>
              <a:t>famílias em desconexão institucional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2137"/>
                </a:solidFill>
              </a:rPr>
              <a:t>(PVSE-04: ≥2 anos sem atualização · idoso no domicílio · renda ≤ ½ SM)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2697480" cy="2331720"/>
          </a:xfrm>
          <a:prstGeom prst="rect">
            <a:avLst/>
          </a:prstGeom>
          <a:solidFill>
            <a:srgbClr val="FEE2E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64008" cy="2331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21792" y="25786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O que isso significa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2944368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Essas famílias existem no CadÚnico mas estão invisíveis para a rede. Não recebem visita, não aparecem nos relatórios, não são convocadas. O idoso dentro dessa família é o mais vulnerável.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7560" y="2487168"/>
            <a:ext cx="2697480" cy="2331720"/>
          </a:xfrm>
          <a:prstGeom prst="rect">
            <a:avLst/>
          </a:prstGeom>
          <a:solidFill>
            <a:srgbClr val="DCFCE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337560" y="2487168"/>
            <a:ext cx="64008" cy="2331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502152" y="25786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O que o Atlas permite fazer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02152" y="2944368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Gerar lista operacional por loteamento para busca ativa imediata. Sem nenhuma nova coleta de dados — só reorganizando o que já existe no CadÚnico.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2487168"/>
            <a:ext cx="2697480" cy="2331720"/>
          </a:xfrm>
          <a:prstGeom prst="rect">
            <a:avLst/>
          </a:prstGeom>
          <a:solidFill>
            <a:srgbClr val="FEF3C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217920" y="2487168"/>
            <a:ext cx="64008" cy="2331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382512" y="25786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O que ainda não conseguimos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82512" y="2944368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Cruzar com o SIGAS para saber se alguma dessas famílias já está em atendimento ativo — e evitar duplicação de esforço. Isso requer o acesso já solicitado.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3A88E"/>
                </a:solidFill>
              </a:rPr>
              <a:t>Nível 3 — Alto impacto social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Famílias com múltiplas vulnerabilidades simultâneas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321040" cy="1508760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2161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A88E"/>
                </a:solidFill>
              </a:rPr>
              <a:t>PVSE-01 — Idosos em vulnerabilidade severa tripla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327 idosos · 315 famílias · idade média 71,7 anos · 220 mulheres (67%)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💰  Baixa renda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176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renda per capita ≤ ½ SM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520440" y="1901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📖  Analfabetismo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2176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não sabe ler nem escrever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63640" y="1901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🚫  Sem proteção social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63640" y="2176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não recebe BPC nem BF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816352"/>
            <a:ext cx="8321040" cy="27432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48640" y="2907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A88E"/>
                </a:solidFill>
              </a:rPr>
              <a:t>Combinação que mais preocupa — PcD + sem apoio + baixa renda: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27355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1.470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pessoas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identificadas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27355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1.411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83280" y="3931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famílias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únicas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27355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22,91%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217920" y="3931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do total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de PcDs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Jardim Amanda: 168 pessoas · 164 famílias — lidera em todos os perfis críticos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</a:rPr>
              <a:t>O que ainda não conseguimos ver — e por quê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</a:rPr>
              <a:t>A resposta existe. Está presa dentro de sistemas que não conversam entre si.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206240" cy="1810512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64008" cy="18105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21208" y="1078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SIGAS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1208" y="1389888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21208" y="1389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Desbloquearia: 8 perguntas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" y="17373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Reincidência por loteamento · Tempo médio de atendimento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Famílias com benefício sem acompanhamento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" y="2496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D97706"/>
                </a:solidFill>
              </a:rPr>
              <a:t>⚡ Solicitação formal enviada · aguardando acesso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987552"/>
            <a:ext cx="4206240" cy="1810512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846320" y="987552"/>
            <a:ext cx="64008" cy="1810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001768" y="1078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CAGED / MTE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01768" y="1389888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001768" y="1389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Desbloquearia: RT_02 + RT_03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01768" y="17373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Quem está no CadÚnico e tem vínculo formal?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% trabalho informal por loteamento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01768" y="2496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DC2626"/>
                </a:solidFill>
              </a:rPr>
              <a:t>⚡ Requer convênio federal — Prefeitura → MTE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980944"/>
            <a:ext cx="4206240" cy="1810512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65760" y="2980944"/>
            <a:ext cx="64008" cy="1810512"/>
          </a:xfrm>
          <a:prstGeom prst="rect">
            <a:avLst/>
          </a:prstGeom>
          <a:solidFill>
            <a:srgbClr val="0A7E6C"/>
          </a:solidFill>
          <a:ln w="12700">
            <a:solidFill>
              <a:srgbClr val="0A7E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21208" y="3072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SINASC / SIM (DATASUS)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1208" y="338328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0A7E6C"/>
          </a:solidFill>
          <a:ln w="12700">
            <a:solidFill>
              <a:srgbClr val="0A7E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21208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Desbloquearia: CH_01 + CH_04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" y="373075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Mortalidade infantil por loteamento → onde construir a 3ª UBS?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Gravidez na adolescência por loteamento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1208" y="4489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A7E6C"/>
                </a:solidFill>
              </a:rPr>
              <a:t>⚡ Dado público — bloqueado pelo DE-PARA CEP → loteamento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2980944"/>
            <a:ext cx="4206240" cy="1810512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846320" y="2980944"/>
            <a:ext cx="64008" cy="1810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001768" y="3072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e-SUS (Sec. Saúde)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01768" y="338328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001768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Desbloquearia: Cobertura real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01768" y="373075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Quais famílias do CadÚnico nunca aparecem nas UBSs?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Quantas estão cadastradas mas fora da atenção básica?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01768" y="4489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DC2626"/>
                </a:solidFill>
              </a:rPr>
              <a:t>⚡ Requer convênio municipal com Secretaria de Saúde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 que precisamos de vocês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A88E"/>
                </a:solidFill>
              </a:rPr>
              <a:t>Dois pedidos. Com nome, consequência e prazo.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321040" cy="1737360"/>
          </a:xfrm>
          <a:prstGeom prst="rect">
            <a:avLst/>
          </a:prstGeom>
          <a:solidFill>
            <a:srgbClr val="0A2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A88E"/>
                </a:solidFill>
              </a:rPr>
              <a:t>PEDIDO 1 — Destravar o DE-PARA CEP → loteamento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Responsáveis identificados: Cláudia e Jesus José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Desbloquearia sem nenhum custo adicional: mortalidade infantil por loteamento (CH_01) e gravidez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na adolescência por loteamento (CH_04) — dados já públicos no DATASUS, esperando só esse vínculo.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944368"/>
            <a:ext cx="8321040" cy="1920240"/>
          </a:xfrm>
          <a:prstGeom prst="rect">
            <a:avLst/>
          </a:prstGeom>
          <a:solidFill>
            <a:srgbClr val="1A1A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303580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PEDIDO 2 — Convênios via Prefeitura para dados federais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40156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Requer encaminhamento ao jurídico com justificativa técnica da Secretaria de Inclusão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3075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</a:rPr>
              <a:t>▸ MTE / CAGED  —  quem está no CadÚnico e tem vínculo formal de emprego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03250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▸ INSS / DATAPREV  —  separar renda de trabalho de renda previdenciária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33425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▸ Sec. Saúde (e-SUS)  —  quem está no CadÚnico mas nunca aparece nas UBSs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5143500"/>
          </a:xfrm>
          <a:prstGeom prst="rect">
            <a:avLst/>
          </a:prstGeom>
          <a:solidFill>
            <a:srgbClr val="081A2E"/>
          </a:solidFill>
          <a:ln w="12700">
            <a:solidFill>
              <a:srgbClr val="08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160520" y="0"/>
            <a:ext cx="164592" cy="5143500"/>
          </a:xfrm>
          <a:prstGeom prst="rect">
            <a:avLst/>
          </a:prstGeom>
          <a:solidFill>
            <a:srgbClr val="0A7E6C"/>
          </a:solidFill>
          <a:ln w="12700">
            <a:solidFill>
              <a:srgbClr val="0A7E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Em três meses saímos de uma base bruta de 72 mil pessoas para um Atlas capaz de identificar idosos invisíveis, vulnerabilidades territoriais e prioridades de busca ativa.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2834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3A88E"/>
                </a:solidFill>
              </a:rPr>
              <a:t>O próximo salto depende principalmente da integração com os sistemas existentes.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Ailton Vendramini · DIAE / SMPUGE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22960"/>
            <a:ext cx="4251960" cy="114300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709160" y="89611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A88E"/>
                </a:solidFill>
              </a:rPr>
              <a:t>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4920" y="914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A88E"/>
                </a:solidFill>
              </a:rPr>
              <a:t>entrega realizada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126187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Base estruturada · 10 indicadores · 5 perfis críticos identificados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194560"/>
            <a:ext cx="4251960" cy="114300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09160" y="226771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A88E"/>
                </a:solidFill>
              </a:rPr>
              <a:t>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7492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A88E"/>
                </a:solidFill>
              </a:rPr>
              <a:t>valor gerado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263347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Idosos invisíveis localizados · PcD mapeada · busca ativa possível agora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3566160"/>
            <a:ext cx="4251960" cy="1143000"/>
          </a:xfrm>
          <a:prstGeom prst="rect">
            <a:avLst/>
          </a:prstGeom>
          <a:solidFill>
            <a:srgbClr val="0A7E6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709160" y="363931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A88E"/>
                </a:solidFill>
              </a:rPr>
              <a:t>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74920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próximo passo claro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400507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SIGAS + convênios = 12 perguntas respondidas + Atlas completo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1138</Words>
  <Application>Microsoft Office PowerPoint</Application>
  <PresentationFormat>Apresentação na tela (16:9)</PresentationFormat>
  <Paragraphs>184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Social de Hortolândia — v2</dc:title>
  <dc:subject>PptxGenJS Presentation</dc:subject>
  <dc:creator>Ailton Vendramini</dc:creator>
  <cp:lastModifiedBy>Ailton Vendramini</cp:lastModifiedBy>
  <cp:revision>1</cp:revision>
  <dcterms:created xsi:type="dcterms:W3CDTF">2026-06-02T20:41:55Z</dcterms:created>
  <dcterms:modified xsi:type="dcterms:W3CDTF">2026-06-02T21:25:49Z</dcterms:modified>
</cp:coreProperties>
</file>